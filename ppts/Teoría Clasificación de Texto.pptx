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embeddedFontLst>
    <p:embeddedFont>
      <p:font typeface="Sora" panose="020B0604020202020204" charset="0"/>
      <p:regular r:id="rId11"/>
      <p:bold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ron Pesca Alba" userId="e0b434a8-459f-4db2-b279-4dd028cb1c3a" providerId="ADAL" clId="{A0B38528-139F-45AC-98AB-5E2BBB5B833F}"/>
    <pc:docChg chg="modSld">
      <pc:chgData name="Sharon Pesca Alba" userId="e0b434a8-459f-4db2-b279-4dd028cb1c3a" providerId="ADAL" clId="{A0B38528-139F-45AC-98AB-5E2BBB5B833F}" dt="2026-05-03T23:00:22.732" v="0" actId="14100"/>
      <pc:docMkLst>
        <pc:docMk/>
      </pc:docMkLst>
      <pc:sldChg chg="modSp mod">
        <pc:chgData name="Sharon Pesca Alba" userId="e0b434a8-459f-4db2-b279-4dd028cb1c3a" providerId="ADAL" clId="{A0B38528-139F-45AC-98AB-5E2BBB5B833F}" dt="2026-05-03T23:00:22.732" v="0" actId="14100"/>
        <pc:sldMkLst>
          <pc:docMk/>
          <pc:sldMk cId="0" sldId="263"/>
        </pc:sldMkLst>
        <pc:picChg chg="mod">
          <ac:chgData name="Sharon Pesca Alba" userId="e0b434a8-459f-4db2-b279-4dd028cb1c3a" providerId="ADAL" clId="{A0B38528-139F-45AC-98AB-5E2BBB5B833F}" dt="2026-05-03T23:00:22.732" v="0" actId="14100"/>
          <ac:picMkLst>
            <pc:docMk/>
            <pc:sldMk cId="0" sldId="263"/>
            <ac:picMk id="175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02fefc93e3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02fefc93e3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11f5b0a173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11f5b0a173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152ce65bcc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152ce65bcc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152ce65bcc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152ce65bcc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152ce65bcc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152ce65bcc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5698d0d10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5698d0d10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5698d0d106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5698d0d106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researchgate.net/figure/Basic-structure-of-the-LSTM-It-mainly-consists-of-a-forgetting-gate-an-input-gate-an_fig2_359832112" TargetMode="Externa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hyperlink" Target="https://www.youtube.com/watch?v=aL-EmKuB078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hyperlink" Target="https://www.youtube.com/watch?v=jPmrIh8uLzw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hyperlink" Target="https://epoch.ai/" TargetMode="Externa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4500"/>
            <a:ext cx="914399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298650" y="1537825"/>
            <a:ext cx="8546700" cy="17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Teoría:</a:t>
            </a:r>
            <a:endParaRPr sz="360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6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Clasificación de Texto</a:t>
            </a:r>
            <a:endParaRPr sz="360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4500"/>
            <a:ext cx="914399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972200" y="354125"/>
            <a:ext cx="4498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Tokenización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817025" y="354125"/>
            <a:ext cx="55200" cy="5541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0200" y="1383875"/>
            <a:ext cx="4332349" cy="27186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4" name="Google Shape;64;p14"/>
          <p:cNvSpPr txBox="1"/>
          <p:nvPr/>
        </p:nvSpPr>
        <p:spPr>
          <a:xfrm>
            <a:off x="5146925" y="2080000"/>
            <a:ext cx="3695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Ventajas de cada metodología</a:t>
            </a:r>
            <a:endParaRPr sz="1800"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4955125" y="2449300"/>
            <a:ext cx="4009800" cy="28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000"/>
              <a:buFont typeface="Sora"/>
              <a:buChar char="●"/>
            </a:pP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Basado en </a:t>
            </a:r>
            <a:r>
              <a:rPr lang="es" sz="10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Caracteres</a:t>
            </a:r>
            <a:endParaRPr sz="1000" b="1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914400" lvl="1" indent="-292100" algn="l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000"/>
              <a:buFont typeface="Sora"/>
              <a:buChar char="○"/>
            </a:pP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Vocabulario mínimo</a:t>
            </a:r>
            <a:endParaRPr sz="100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914400" lvl="1" indent="-292100" algn="l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000"/>
              <a:buFont typeface="Sora"/>
              <a:buChar char="○"/>
            </a:pP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Pierde mucho contexto (salida menos realista)</a:t>
            </a:r>
            <a:endParaRPr sz="100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914400" lvl="1" indent="-292100" algn="l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000"/>
              <a:buFont typeface="Sora"/>
              <a:buChar char="○"/>
            </a:pP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Secuencias muy largas</a:t>
            </a:r>
            <a:b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</a:br>
            <a:endParaRPr sz="100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000"/>
              <a:buFont typeface="Sora"/>
              <a:buChar char="●"/>
            </a:pP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Basado en </a:t>
            </a:r>
            <a:r>
              <a:rPr lang="es" sz="10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Palabras</a:t>
            </a:r>
            <a:endParaRPr sz="1000" b="1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914400" lvl="1" indent="-292100" algn="l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000"/>
              <a:buFont typeface="Sora"/>
              <a:buChar char="○"/>
            </a:pP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Capta mejor el uso de la palabra (realista)</a:t>
            </a:r>
            <a:endParaRPr sz="100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914400" lvl="1" indent="-292100" algn="l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000"/>
              <a:buFont typeface="Sora"/>
              <a:buChar char="○"/>
            </a:pP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No es bueno para crear palabras nuevas</a:t>
            </a:r>
            <a:endParaRPr sz="100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914400" lvl="1" indent="-292100" algn="l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000"/>
              <a:buFont typeface="Sora"/>
              <a:buChar char="○"/>
            </a:pP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Vocabulario amplio (es redundante)</a:t>
            </a:r>
            <a:b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</a:br>
            <a:endParaRPr sz="100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000"/>
              <a:buFont typeface="Sora"/>
              <a:buChar char="●"/>
            </a:pP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Basado en </a:t>
            </a:r>
            <a:r>
              <a:rPr lang="es" sz="10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Sub-Palabras</a:t>
            </a:r>
            <a:endParaRPr sz="1000" b="1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914400" lvl="1" indent="-292100" algn="l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000"/>
              <a:buFont typeface="Sora"/>
              <a:buChar char="○"/>
            </a:pP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Vocabulario reducido (menos redundancia)</a:t>
            </a:r>
            <a:endParaRPr sz="100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914400" lvl="1" indent="-292100" algn="l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000"/>
              <a:buFont typeface="Sora"/>
              <a:buChar char="○"/>
            </a:pP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Mantiene salidas coherentes</a:t>
            </a:r>
            <a:endParaRPr sz="100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914400" lvl="1" indent="-292100" algn="l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000"/>
              <a:buFont typeface="Sora"/>
              <a:buChar char="○"/>
            </a:pP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Puede crear palabras nuevas</a:t>
            </a:r>
            <a:b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</a:br>
            <a:endParaRPr sz="100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5048275" y="958825"/>
            <a:ext cx="3695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¿Que es Tokenizar?</a:t>
            </a:r>
            <a:endParaRPr sz="1800"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5146925" y="1328125"/>
            <a:ext cx="3563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Es representar subpartes de un texto (tokens) que luego se representan como vectores (embedding) para poder alimentar un algoritmo de NLP.</a:t>
            </a:r>
            <a:endParaRPr sz="100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5023700" y="4138275"/>
            <a:ext cx="3967800" cy="869400"/>
          </a:xfrm>
          <a:prstGeom prst="rect">
            <a:avLst/>
          </a:prstGeom>
          <a:noFill/>
          <a:ln w="19050" cap="flat" cmpd="sng">
            <a:solidFill>
              <a:srgbClr val="38761D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4"/>
          <p:cNvSpPr txBox="1"/>
          <p:nvPr/>
        </p:nvSpPr>
        <p:spPr>
          <a:xfrm>
            <a:off x="847075" y="4388325"/>
            <a:ext cx="36954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Tokenización sub-palabras: BPE (Byte Pair Encoding)</a:t>
            </a:r>
            <a:endParaRPr sz="900" b="1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Bert, ChatGPT, Claude, Gemini, LLama, Mixtral, etc</a:t>
            </a:r>
            <a:endParaRPr sz="1500"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4119138" y="4443825"/>
            <a:ext cx="623400" cy="2121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B5394"/>
          </a:solidFill>
          <a:ln w="9525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4500"/>
            <a:ext cx="914399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 txBox="1"/>
          <p:nvPr/>
        </p:nvSpPr>
        <p:spPr>
          <a:xfrm>
            <a:off x="972200" y="311250"/>
            <a:ext cx="5092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Modelos Estadísticos (+1980)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817025" y="354125"/>
            <a:ext cx="55200" cy="5541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5"/>
          <p:cNvSpPr txBox="1"/>
          <p:nvPr/>
        </p:nvSpPr>
        <p:spPr>
          <a:xfrm>
            <a:off x="658500" y="1375225"/>
            <a:ext cx="3913500" cy="21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000"/>
              <a:buFont typeface="Sora"/>
              <a:buChar char="+"/>
            </a:pPr>
            <a:r>
              <a:rPr lang="es" sz="10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TF:</a:t>
            </a: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 Term Frequency</a:t>
            </a:r>
            <a:b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</a:b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Mide la frecuencia de un término en un documento</a:t>
            </a:r>
            <a:b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</a:br>
            <a:b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</a:br>
            <a:r>
              <a:rPr lang="es" sz="10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TF =</a:t>
            </a:r>
            <a:b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</a:br>
            <a:b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</a:br>
            <a:endParaRPr sz="100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000"/>
              <a:buFont typeface="Sora"/>
              <a:buChar char="+"/>
            </a:pPr>
            <a:r>
              <a:rPr lang="es" sz="10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IDF:</a:t>
            </a: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 Inverse Document Frequency</a:t>
            </a:r>
            <a:b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</a:b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Disminuye el peso de la palabra que es frecuente en el subset de documentos</a:t>
            </a:r>
            <a:b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</a:br>
            <a:b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</a:br>
            <a:r>
              <a:rPr lang="es" sz="10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IDF =</a:t>
            </a: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endParaRPr sz="100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972200" y="674175"/>
            <a:ext cx="50925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lt1"/>
                </a:solidFill>
                <a:highlight>
                  <a:srgbClr val="073763"/>
                </a:highlight>
                <a:latin typeface="Sora"/>
                <a:ea typeface="Sora"/>
                <a:cs typeface="Sora"/>
                <a:sym typeface="Sora"/>
              </a:rPr>
              <a:t>TF-IDF</a:t>
            </a:r>
            <a:endParaRPr sz="1100">
              <a:solidFill>
                <a:schemeClr val="lt1"/>
              </a:solidFill>
              <a:highlight>
                <a:srgbClr val="073763"/>
              </a:highlight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5071400" y="1375225"/>
            <a:ext cx="98100" cy="1936500"/>
          </a:xfrm>
          <a:prstGeom prst="rightBrace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5"/>
          <p:cNvSpPr txBox="1"/>
          <p:nvPr/>
        </p:nvSpPr>
        <p:spPr>
          <a:xfrm>
            <a:off x="5169500" y="2362450"/>
            <a:ext cx="21927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Se enfoca en </a:t>
            </a:r>
            <a:r>
              <a:rPr lang="es" sz="12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palabras importantes</a:t>
            </a:r>
            <a:endParaRPr sz="1800"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1438200" y="1819250"/>
            <a:ext cx="3291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Cantidad de veces que aparece la palabra en el documento</a:t>
            </a:r>
            <a:endParaRPr sz="1200"/>
          </a:p>
        </p:txBody>
      </p:sp>
      <p:cxnSp>
        <p:nvCxnSpPr>
          <p:cNvPr id="83" name="Google Shape;83;p15"/>
          <p:cNvCxnSpPr/>
          <p:nvPr/>
        </p:nvCxnSpPr>
        <p:spPr>
          <a:xfrm rot="10800000" flipH="1">
            <a:off x="1533450" y="2062450"/>
            <a:ext cx="3086100" cy="1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4" name="Google Shape;84;p15"/>
          <p:cNvSpPr txBox="1"/>
          <p:nvPr/>
        </p:nvSpPr>
        <p:spPr>
          <a:xfrm>
            <a:off x="1438200" y="2019550"/>
            <a:ext cx="2435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Cantidad total de palabras en el documento</a:t>
            </a:r>
            <a:endParaRPr sz="1200"/>
          </a:p>
        </p:txBody>
      </p:sp>
      <p:sp>
        <p:nvSpPr>
          <p:cNvPr id="85" name="Google Shape;85;p15"/>
          <p:cNvSpPr txBox="1"/>
          <p:nvPr/>
        </p:nvSpPr>
        <p:spPr>
          <a:xfrm>
            <a:off x="1743000" y="3038450"/>
            <a:ext cx="3291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Cantidad de documentos en el corpus</a:t>
            </a:r>
            <a:endParaRPr sz="1200"/>
          </a:p>
        </p:txBody>
      </p:sp>
      <p:cxnSp>
        <p:nvCxnSpPr>
          <p:cNvPr id="86" name="Google Shape;86;p15"/>
          <p:cNvCxnSpPr/>
          <p:nvPr/>
        </p:nvCxnSpPr>
        <p:spPr>
          <a:xfrm rot="10800000" flipH="1">
            <a:off x="1838250" y="3281050"/>
            <a:ext cx="2634300" cy="12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7" name="Google Shape;87;p15"/>
          <p:cNvSpPr txBox="1"/>
          <p:nvPr/>
        </p:nvSpPr>
        <p:spPr>
          <a:xfrm>
            <a:off x="1743000" y="3238750"/>
            <a:ext cx="287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Cantidad de documentos que contienen la palabra</a:t>
            </a:r>
            <a:endParaRPr sz="1200"/>
          </a:p>
        </p:txBody>
      </p:sp>
      <p:sp>
        <p:nvSpPr>
          <p:cNvPr id="88" name="Google Shape;88;p15"/>
          <p:cNvSpPr txBox="1"/>
          <p:nvPr/>
        </p:nvSpPr>
        <p:spPr>
          <a:xfrm>
            <a:off x="1473575" y="3133900"/>
            <a:ext cx="451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Log(</a:t>
            </a:r>
            <a:endParaRPr sz="1200"/>
          </a:p>
        </p:txBody>
      </p:sp>
      <p:sp>
        <p:nvSpPr>
          <p:cNvPr id="89" name="Google Shape;89;p15"/>
          <p:cNvSpPr txBox="1"/>
          <p:nvPr/>
        </p:nvSpPr>
        <p:spPr>
          <a:xfrm>
            <a:off x="4412125" y="3133900"/>
            <a:ext cx="244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)</a:t>
            </a:r>
            <a:endParaRPr sz="1200"/>
          </a:p>
        </p:txBody>
      </p:sp>
      <p:sp>
        <p:nvSpPr>
          <p:cNvPr id="90" name="Google Shape;90;p15"/>
          <p:cNvSpPr txBox="1"/>
          <p:nvPr/>
        </p:nvSpPr>
        <p:spPr>
          <a:xfrm>
            <a:off x="5897763" y="2004100"/>
            <a:ext cx="670800" cy="5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TF * IDF</a:t>
            </a:r>
            <a:endParaRPr b="1"/>
          </a:p>
        </p:txBody>
      </p:sp>
      <p:sp>
        <p:nvSpPr>
          <p:cNvPr id="91" name="Google Shape;91;p15"/>
          <p:cNvSpPr/>
          <p:nvPr/>
        </p:nvSpPr>
        <p:spPr>
          <a:xfrm rot="5400000">
            <a:off x="5495200" y="3228025"/>
            <a:ext cx="506100" cy="158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B5394"/>
          </a:solidFill>
          <a:ln w="9525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5"/>
          <p:cNvSpPr txBox="1"/>
          <p:nvPr/>
        </p:nvSpPr>
        <p:spPr>
          <a:xfrm>
            <a:off x="5260900" y="3609375"/>
            <a:ext cx="974700" cy="8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Comparar vectores (distancia coseno)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93" name="Google Shape;93;p15"/>
          <p:cNvSpPr/>
          <p:nvPr/>
        </p:nvSpPr>
        <p:spPr>
          <a:xfrm rot="5400000">
            <a:off x="6333400" y="3228025"/>
            <a:ext cx="506100" cy="158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B5394"/>
          </a:solidFill>
          <a:ln w="9525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5"/>
          <p:cNvSpPr txBox="1"/>
          <p:nvPr/>
        </p:nvSpPr>
        <p:spPr>
          <a:xfrm>
            <a:off x="6123600" y="3609375"/>
            <a:ext cx="9747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Palabras resumen del documento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95" name="Google Shape;95;p15"/>
          <p:cNvSpPr/>
          <p:nvPr/>
        </p:nvSpPr>
        <p:spPr>
          <a:xfrm>
            <a:off x="7306625" y="2467900"/>
            <a:ext cx="506100" cy="158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B5394"/>
          </a:solidFill>
          <a:ln w="9525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5"/>
          <p:cNvSpPr txBox="1"/>
          <p:nvPr/>
        </p:nvSpPr>
        <p:spPr>
          <a:xfrm>
            <a:off x="7736525" y="2041450"/>
            <a:ext cx="1412100" cy="12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Clasificar documentos comparando los vectores con los vectores promedio de cada categoría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4500"/>
            <a:ext cx="914399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6"/>
          <p:cNvSpPr txBox="1"/>
          <p:nvPr/>
        </p:nvSpPr>
        <p:spPr>
          <a:xfrm>
            <a:off x="972200" y="311250"/>
            <a:ext cx="5092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Modelos ML (+2000)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3" name="Google Shape;103;p16"/>
          <p:cNvSpPr/>
          <p:nvPr/>
        </p:nvSpPr>
        <p:spPr>
          <a:xfrm>
            <a:off x="817025" y="354125"/>
            <a:ext cx="55200" cy="5541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6"/>
          <p:cNvSpPr txBox="1"/>
          <p:nvPr/>
        </p:nvSpPr>
        <p:spPr>
          <a:xfrm>
            <a:off x="972200" y="674175"/>
            <a:ext cx="50925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lt1"/>
                </a:solidFill>
                <a:highlight>
                  <a:srgbClr val="073763"/>
                </a:highlight>
                <a:latin typeface="Sora"/>
                <a:ea typeface="Sora"/>
                <a:cs typeface="Sora"/>
                <a:sym typeface="Sora"/>
              </a:rPr>
              <a:t>Random Forest, SVM, Decision Tree, etc</a:t>
            </a:r>
            <a:endParaRPr sz="1100">
              <a:solidFill>
                <a:schemeClr val="lt1"/>
              </a:solidFill>
              <a:highlight>
                <a:srgbClr val="073763"/>
              </a:highlight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749775" y="1411950"/>
            <a:ext cx="5314800" cy="35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200"/>
              <a:buFont typeface="Sora"/>
              <a:buAutoNum type="arabicPeriod"/>
            </a:pPr>
            <a:r>
              <a:rPr lang="es" sz="12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Tokenización</a:t>
            </a:r>
            <a:br>
              <a:rPr lang="es" sz="12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</a:br>
            <a:endParaRPr sz="1200" b="1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200"/>
              <a:buFont typeface="Sora"/>
              <a:buAutoNum type="arabicPeriod"/>
            </a:pPr>
            <a:r>
              <a:rPr lang="es" sz="12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Eliminar Stopwords</a:t>
            </a:r>
            <a:br>
              <a:rPr lang="es" sz="12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</a:b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Eliminar palabras comunes (ej: “el”, “la”, “y”, “que”) </a:t>
            </a:r>
            <a:br>
              <a:rPr lang="es" sz="12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</a:br>
            <a:endParaRPr sz="1200" b="1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200"/>
              <a:buFont typeface="Sora"/>
              <a:buAutoNum type="arabicPeriod"/>
            </a:pPr>
            <a:r>
              <a:rPr lang="es" sz="12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Lematización</a:t>
            </a:r>
            <a:br>
              <a:rPr lang="es" sz="12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</a:b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Reducir las palabras a su forma base o “lema” </a:t>
            </a:r>
            <a:b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</a:b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(ej: mejor —&gt; bueno, corriendo —&gt; correr)</a:t>
            </a:r>
            <a:br>
              <a:rPr lang="es" sz="12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</a:br>
            <a:endParaRPr sz="1200" b="1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200"/>
              <a:buFont typeface="Sora"/>
              <a:buAutoNum type="arabicPeriod"/>
            </a:pPr>
            <a:r>
              <a:rPr lang="es" sz="12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Cálculo TF-IDF</a:t>
            </a:r>
            <a:br>
              <a:rPr lang="es" sz="12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</a:b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Se calcula el valor para cada palabra del documento para crear un vector. Luego se utiliza en forma de feature.</a:t>
            </a:r>
            <a:br>
              <a:rPr lang="es" sz="12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</a:br>
            <a:endParaRPr sz="1200" b="1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200"/>
              <a:buFont typeface="Sora"/>
              <a:buAutoNum type="arabicPeriod"/>
            </a:pPr>
            <a:r>
              <a:rPr lang="es" sz="12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Modelo de ML</a:t>
            </a:r>
            <a:b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</a:b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Se utilizan los vectores de TF-IDF para predecir mediante SVM o Random Forest</a:t>
            </a:r>
            <a:endParaRPr sz="100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6597350" y="1539250"/>
            <a:ext cx="2345100" cy="19332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6"/>
          <p:cNvSpPr txBox="1"/>
          <p:nvPr/>
        </p:nvSpPr>
        <p:spPr>
          <a:xfrm>
            <a:off x="6725950" y="2034025"/>
            <a:ext cx="2216700" cy="14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69999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Sora"/>
              <a:buChar char="●"/>
            </a:pPr>
            <a:r>
              <a:rPr lang="es" sz="900">
                <a:solidFill>
                  <a:srgbClr val="666666"/>
                </a:solidFill>
                <a:latin typeface="Sora"/>
                <a:ea typeface="Sora"/>
                <a:cs typeface="Sora"/>
                <a:sym typeface="Sora"/>
              </a:rPr>
              <a:t>Aprendizajes de Patrones complejos</a:t>
            </a:r>
            <a:br>
              <a:rPr lang="es" sz="900">
                <a:solidFill>
                  <a:srgbClr val="666666"/>
                </a:solidFill>
                <a:latin typeface="Sora"/>
                <a:ea typeface="Sora"/>
                <a:cs typeface="Sora"/>
                <a:sym typeface="Sora"/>
              </a:rPr>
            </a:br>
            <a:endParaRPr sz="900">
              <a:solidFill>
                <a:srgbClr val="666666"/>
              </a:solidFill>
              <a:latin typeface="Sora"/>
              <a:ea typeface="Sora"/>
              <a:cs typeface="Sora"/>
              <a:sym typeface="Sora"/>
            </a:endParaRPr>
          </a:p>
          <a:p>
            <a:pPr marL="269999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Sora"/>
              <a:buChar char="●"/>
            </a:pPr>
            <a:r>
              <a:rPr lang="es" sz="900">
                <a:solidFill>
                  <a:srgbClr val="666666"/>
                </a:solidFill>
                <a:latin typeface="Sora"/>
                <a:ea typeface="Sora"/>
                <a:cs typeface="Sora"/>
                <a:sym typeface="Sora"/>
              </a:rPr>
              <a:t>Capturar relaciones no lineales</a:t>
            </a:r>
            <a:br>
              <a:rPr lang="es" sz="900">
                <a:solidFill>
                  <a:srgbClr val="666666"/>
                </a:solidFill>
                <a:latin typeface="Sora"/>
                <a:ea typeface="Sora"/>
                <a:cs typeface="Sora"/>
                <a:sym typeface="Sora"/>
              </a:rPr>
            </a:br>
            <a:endParaRPr sz="900">
              <a:solidFill>
                <a:srgbClr val="666666"/>
              </a:solidFill>
              <a:latin typeface="Sora"/>
              <a:ea typeface="Sora"/>
              <a:cs typeface="Sora"/>
              <a:sym typeface="Sora"/>
            </a:endParaRPr>
          </a:p>
          <a:p>
            <a:pPr marL="269999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Sora"/>
              <a:buChar char="●"/>
            </a:pPr>
            <a:r>
              <a:rPr lang="es" sz="900">
                <a:solidFill>
                  <a:srgbClr val="666666"/>
                </a:solidFill>
                <a:latin typeface="Sora"/>
                <a:ea typeface="Sora"/>
                <a:cs typeface="Sora"/>
                <a:sym typeface="Sora"/>
              </a:rPr>
              <a:t>Mayor accuracy</a:t>
            </a:r>
            <a:endParaRPr sz="900">
              <a:solidFill>
                <a:srgbClr val="666666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666666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7340025" y="1600275"/>
            <a:ext cx="12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>
                <a:solidFill>
                  <a:srgbClr val="666666"/>
                </a:solidFill>
                <a:latin typeface="Sora"/>
                <a:ea typeface="Sora"/>
                <a:cs typeface="Sora"/>
                <a:sym typeface="Sora"/>
              </a:rPr>
              <a:t>Ventajas</a:t>
            </a:r>
            <a:endParaRPr b="1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4500"/>
            <a:ext cx="914399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7"/>
          <p:cNvSpPr txBox="1"/>
          <p:nvPr/>
        </p:nvSpPr>
        <p:spPr>
          <a:xfrm>
            <a:off x="972200" y="311250"/>
            <a:ext cx="6733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Redes Neuronales Recurrentes(+2010)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817025" y="354125"/>
            <a:ext cx="55200" cy="5541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7"/>
          <p:cNvSpPr txBox="1"/>
          <p:nvPr/>
        </p:nvSpPr>
        <p:spPr>
          <a:xfrm>
            <a:off x="972200" y="674175"/>
            <a:ext cx="50925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lt1"/>
                </a:solidFill>
                <a:highlight>
                  <a:srgbClr val="073763"/>
                </a:highlight>
                <a:latin typeface="Sora"/>
                <a:ea typeface="Sora"/>
                <a:cs typeface="Sora"/>
                <a:sym typeface="Sora"/>
              </a:rPr>
              <a:t>LSTM ( Long Short Term Memory)</a:t>
            </a:r>
            <a:endParaRPr sz="1100">
              <a:solidFill>
                <a:schemeClr val="lt1"/>
              </a:solidFill>
              <a:highlight>
                <a:srgbClr val="073763"/>
              </a:highlight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6597350" y="1539250"/>
            <a:ext cx="2345100" cy="29880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7"/>
          <p:cNvSpPr txBox="1"/>
          <p:nvPr/>
        </p:nvSpPr>
        <p:spPr>
          <a:xfrm>
            <a:off x="6725950" y="2034025"/>
            <a:ext cx="2216700" cy="19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69999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Sora"/>
              <a:buChar char="●"/>
            </a:pPr>
            <a:r>
              <a:rPr lang="es" sz="900">
                <a:solidFill>
                  <a:srgbClr val="666666"/>
                </a:solidFill>
                <a:latin typeface="Sora"/>
                <a:ea typeface="Sora"/>
                <a:cs typeface="Sora"/>
                <a:sym typeface="Sora"/>
              </a:rPr>
              <a:t>Procesamiento Secuencial (los token están ordenados)</a:t>
            </a:r>
            <a:br>
              <a:rPr lang="es" sz="900">
                <a:solidFill>
                  <a:srgbClr val="666666"/>
                </a:solidFill>
                <a:latin typeface="Sora"/>
                <a:ea typeface="Sora"/>
                <a:cs typeface="Sora"/>
                <a:sym typeface="Sora"/>
              </a:rPr>
            </a:br>
            <a:endParaRPr sz="900">
              <a:solidFill>
                <a:srgbClr val="666666"/>
              </a:solidFill>
              <a:latin typeface="Sora"/>
              <a:ea typeface="Sora"/>
              <a:cs typeface="Sora"/>
              <a:sym typeface="Sora"/>
            </a:endParaRPr>
          </a:p>
          <a:p>
            <a:pPr marL="269999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Sora"/>
              <a:buChar char="●"/>
            </a:pPr>
            <a:r>
              <a:rPr lang="es" sz="900">
                <a:solidFill>
                  <a:srgbClr val="666666"/>
                </a:solidFill>
                <a:latin typeface="Sora"/>
                <a:ea typeface="Sora"/>
                <a:cs typeface="Sora"/>
                <a:sym typeface="Sora"/>
              </a:rPr>
              <a:t>Capturan dependencias entre las palabras</a:t>
            </a:r>
            <a:br>
              <a:rPr lang="es" sz="900">
                <a:solidFill>
                  <a:srgbClr val="666666"/>
                </a:solidFill>
                <a:latin typeface="Sora"/>
                <a:ea typeface="Sora"/>
                <a:cs typeface="Sora"/>
                <a:sym typeface="Sora"/>
              </a:rPr>
            </a:br>
            <a:endParaRPr sz="900">
              <a:solidFill>
                <a:srgbClr val="666666"/>
              </a:solidFill>
              <a:latin typeface="Sora"/>
              <a:ea typeface="Sora"/>
              <a:cs typeface="Sora"/>
              <a:sym typeface="Sora"/>
            </a:endParaRPr>
          </a:p>
          <a:p>
            <a:pPr marL="269999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Sora"/>
              <a:buChar char="●"/>
            </a:pPr>
            <a:r>
              <a:rPr lang="es" sz="900">
                <a:solidFill>
                  <a:srgbClr val="666666"/>
                </a:solidFill>
                <a:latin typeface="Sora"/>
                <a:ea typeface="Sora"/>
                <a:cs typeface="Sora"/>
                <a:sym typeface="Sora"/>
              </a:rPr>
              <a:t>Mayor rendimiento</a:t>
            </a:r>
            <a:br>
              <a:rPr lang="es" sz="900">
                <a:solidFill>
                  <a:srgbClr val="666666"/>
                </a:solidFill>
                <a:latin typeface="Sora"/>
                <a:ea typeface="Sora"/>
                <a:cs typeface="Sora"/>
                <a:sym typeface="Sora"/>
              </a:rPr>
            </a:br>
            <a:endParaRPr sz="900">
              <a:solidFill>
                <a:srgbClr val="666666"/>
              </a:solidFill>
              <a:latin typeface="Sora"/>
              <a:ea typeface="Sora"/>
              <a:cs typeface="Sora"/>
              <a:sym typeface="Sora"/>
            </a:endParaRPr>
          </a:p>
          <a:p>
            <a:pPr marL="269999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Sora"/>
              <a:buChar char="●"/>
            </a:pPr>
            <a:r>
              <a:rPr lang="es" sz="900">
                <a:solidFill>
                  <a:srgbClr val="666666"/>
                </a:solidFill>
                <a:latin typeface="Sora"/>
                <a:ea typeface="Sora"/>
                <a:cs typeface="Sora"/>
                <a:sym typeface="Sora"/>
              </a:rPr>
              <a:t>Permiten generación de texto (predicen la siguiente palabra)</a:t>
            </a:r>
            <a:endParaRPr sz="900">
              <a:solidFill>
                <a:srgbClr val="666666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666666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7340025" y="1600275"/>
            <a:ext cx="12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>
                <a:solidFill>
                  <a:srgbClr val="666666"/>
                </a:solidFill>
                <a:latin typeface="Sora"/>
                <a:ea typeface="Sora"/>
                <a:cs typeface="Sora"/>
                <a:sym typeface="Sora"/>
              </a:rPr>
              <a:t>Ventajas</a:t>
            </a:r>
            <a:endParaRPr b="1">
              <a:solidFill>
                <a:srgbClr val="666666"/>
              </a:solidFill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529350" y="1459650"/>
            <a:ext cx="3695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¿Que son las LSTM?</a:t>
            </a:r>
            <a:endParaRPr sz="1800"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504850" y="1828950"/>
            <a:ext cx="56454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Las LSTM son un tipo especial de red neuronal recurrente (RNN) diseñada para procesar </a:t>
            </a:r>
            <a:r>
              <a:rPr lang="es" sz="10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secuencias de datos</a:t>
            </a: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. Recuerdan </a:t>
            </a:r>
            <a:r>
              <a:rPr lang="es" sz="10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información relevante</a:t>
            </a: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, teniendo en cuenta </a:t>
            </a:r>
            <a:r>
              <a:rPr lang="es" sz="10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la posición de cada palabra</a:t>
            </a: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 en el texto.</a:t>
            </a:r>
            <a:endParaRPr sz="100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000"/>
              <a:buFont typeface="Sora"/>
              <a:buChar char="-"/>
            </a:pP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 Concepto de </a:t>
            </a:r>
            <a:r>
              <a:rPr lang="es" sz="10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Celda de Estado</a:t>
            </a: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 ( forget (ft), update o input (it), output (ot))</a:t>
            </a:r>
            <a:endParaRPr sz="100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122" name="Google Shape;12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2372" y="2670819"/>
            <a:ext cx="2844446" cy="185632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3" name="Google Shape;123;p17"/>
          <p:cNvSpPr txBox="1"/>
          <p:nvPr/>
        </p:nvSpPr>
        <p:spPr>
          <a:xfrm>
            <a:off x="642375" y="4527150"/>
            <a:ext cx="652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u="sng">
                <a:solidFill>
                  <a:schemeClr val="hlink"/>
                </a:solidFill>
                <a:latin typeface="Sora"/>
                <a:ea typeface="Sora"/>
                <a:cs typeface="Sora"/>
                <a:sym typeface="Sora"/>
                <a:hlinkClick r:id="rId5"/>
              </a:rPr>
              <a:t>Source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4500"/>
            <a:ext cx="914399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8"/>
          <p:cNvSpPr txBox="1"/>
          <p:nvPr/>
        </p:nvSpPr>
        <p:spPr>
          <a:xfrm>
            <a:off x="972200" y="311250"/>
            <a:ext cx="6733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Transformers (+2017)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817025" y="354125"/>
            <a:ext cx="55200" cy="5541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8"/>
          <p:cNvSpPr txBox="1"/>
          <p:nvPr/>
        </p:nvSpPr>
        <p:spPr>
          <a:xfrm>
            <a:off x="972200" y="674175"/>
            <a:ext cx="50925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lt1"/>
                </a:solidFill>
                <a:highlight>
                  <a:srgbClr val="073763"/>
                </a:highlight>
                <a:latin typeface="Sora"/>
                <a:ea typeface="Sora"/>
                <a:cs typeface="Sora"/>
                <a:sym typeface="Sora"/>
              </a:rPr>
              <a:t>BERT, DistilBERT, RoBERTa, etc</a:t>
            </a:r>
            <a:endParaRPr sz="1100">
              <a:solidFill>
                <a:schemeClr val="lt1"/>
              </a:solidFill>
              <a:highlight>
                <a:srgbClr val="073763"/>
              </a:highlight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6597350" y="1310650"/>
            <a:ext cx="2345100" cy="2528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8"/>
          <p:cNvSpPr txBox="1"/>
          <p:nvPr/>
        </p:nvSpPr>
        <p:spPr>
          <a:xfrm>
            <a:off x="6725950" y="1604025"/>
            <a:ext cx="2216700" cy="22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69999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Sora"/>
              <a:buChar char="●"/>
            </a:pPr>
            <a:r>
              <a:rPr lang="es" sz="900">
                <a:solidFill>
                  <a:srgbClr val="666666"/>
                </a:solidFill>
                <a:latin typeface="Sora"/>
                <a:ea typeface="Sora"/>
                <a:cs typeface="Sora"/>
                <a:sym typeface="Sora"/>
              </a:rPr>
              <a:t>Atención global</a:t>
            </a:r>
            <a:br>
              <a:rPr lang="es" sz="900">
                <a:solidFill>
                  <a:srgbClr val="666666"/>
                </a:solidFill>
                <a:latin typeface="Sora"/>
                <a:ea typeface="Sora"/>
                <a:cs typeface="Sora"/>
                <a:sym typeface="Sora"/>
              </a:rPr>
            </a:br>
            <a:r>
              <a:rPr lang="es" sz="900">
                <a:solidFill>
                  <a:srgbClr val="666666"/>
                </a:solidFill>
                <a:latin typeface="Sora"/>
                <a:ea typeface="Sora"/>
                <a:cs typeface="Sora"/>
                <a:sym typeface="Sora"/>
              </a:rPr>
              <a:t>Analiza todo el texto al mismo tiempo, no olvida a medida que avanza la secuencia</a:t>
            </a:r>
            <a:br>
              <a:rPr lang="es" sz="900">
                <a:solidFill>
                  <a:srgbClr val="666666"/>
                </a:solidFill>
                <a:latin typeface="Sora"/>
                <a:ea typeface="Sora"/>
                <a:cs typeface="Sora"/>
                <a:sym typeface="Sora"/>
              </a:rPr>
            </a:br>
            <a:endParaRPr sz="900">
              <a:solidFill>
                <a:srgbClr val="666666"/>
              </a:solidFill>
              <a:latin typeface="Sora"/>
              <a:ea typeface="Sora"/>
              <a:cs typeface="Sora"/>
              <a:sym typeface="Sora"/>
            </a:endParaRPr>
          </a:p>
          <a:p>
            <a:pPr marL="269999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Sora"/>
              <a:buChar char="●"/>
            </a:pPr>
            <a:r>
              <a:rPr lang="es" sz="900">
                <a:solidFill>
                  <a:srgbClr val="666666"/>
                </a:solidFill>
                <a:latin typeface="Sora"/>
                <a:ea typeface="Sora"/>
                <a:cs typeface="Sora"/>
                <a:sym typeface="Sora"/>
              </a:rPr>
              <a:t>Permite escalarlos a modelos masivos</a:t>
            </a:r>
            <a:br>
              <a:rPr lang="es" sz="900">
                <a:solidFill>
                  <a:srgbClr val="666666"/>
                </a:solidFill>
                <a:latin typeface="Sora"/>
                <a:ea typeface="Sora"/>
                <a:cs typeface="Sora"/>
                <a:sym typeface="Sora"/>
              </a:rPr>
            </a:br>
            <a:endParaRPr sz="900">
              <a:solidFill>
                <a:srgbClr val="666666"/>
              </a:solidFill>
              <a:latin typeface="Sora"/>
              <a:ea typeface="Sora"/>
              <a:cs typeface="Sora"/>
              <a:sym typeface="Sora"/>
            </a:endParaRPr>
          </a:p>
          <a:p>
            <a:pPr marL="269999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Sora"/>
              <a:buChar char="●"/>
            </a:pPr>
            <a:r>
              <a:rPr lang="es" sz="900">
                <a:solidFill>
                  <a:srgbClr val="666666"/>
                </a:solidFill>
                <a:latin typeface="Sora"/>
                <a:ea typeface="Sora"/>
                <a:cs typeface="Sora"/>
                <a:sym typeface="Sora"/>
              </a:rPr>
              <a:t>Bidireccionales</a:t>
            </a:r>
            <a:br>
              <a:rPr lang="es" sz="900">
                <a:solidFill>
                  <a:srgbClr val="666666"/>
                </a:solidFill>
                <a:latin typeface="Sora"/>
                <a:ea typeface="Sora"/>
                <a:cs typeface="Sora"/>
                <a:sym typeface="Sora"/>
              </a:rPr>
            </a:br>
            <a:r>
              <a:rPr lang="es" sz="900">
                <a:solidFill>
                  <a:srgbClr val="666666"/>
                </a:solidFill>
                <a:latin typeface="Sora"/>
                <a:ea typeface="Sora"/>
                <a:cs typeface="Sora"/>
                <a:sym typeface="Sora"/>
              </a:rPr>
              <a:t>Analiza el contexto de las palabras anteriores y posteriores</a:t>
            </a:r>
            <a:br>
              <a:rPr lang="es" sz="900">
                <a:solidFill>
                  <a:srgbClr val="666666"/>
                </a:solidFill>
                <a:latin typeface="Sora"/>
                <a:ea typeface="Sora"/>
                <a:cs typeface="Sora"/>
                <a:sym typeface="Sora"/>
              </a:rPr>
            </a:br>
            <a:endParaRPr sz="900">
              <a:solidFill>
                <a:srgbClr val="666666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4" name="Google Shape;134;p18"/>
          <p:cNvSpPr txBox="1"/>
          <p:nvPr/>
        </p:nvSpPr>
        <p:spPr>
          <a:xfrm>
            <a:off x="7340025" y="1285950"/>
            <a:ext cx="12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>
                <a:solidFill>
                  <a:srgbClr val="666666"/>
                </a:solidFill>
                <a:latin typeface="Sora"/>
                <a:ea typeface="Sora"/>
                <a:cs typeface="Sora"/>
                <a:sym typeface="Sora"/>
              </a:rPr>
              <a:t>Ventajas</a:t>
            </a:r>
            <a:endParaRPr b="1">
              <a:solidFill>
                <a:srgbClr val="666666"/>
              </a:solidFill>
            </a:endParaRPr>
          </a:p>
        </p:txBody>
      </p:sp>
      <p:sp>
        <p:nvSpPr>
          <p:cNvPr id="135" name="Google Shape;135;p18"/>
          <p:cNvSpPr txBox="1"/>
          <p:nvPr/>
        </p:nvSpPr>
        <p:spPr>
          <a:xfrm>
            <a:off x="504850" y="1169050"/>
            <a:ext cx="6092400" cy="41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200"/>
              <a:buFont typeface="Sora"/>
              <a:buAutoNum type="arabicPeriod"/>
            </a:pPr>
            <a:r>
              <a:rPr lang="es" sz="12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Tokenización con BPE</a:t>
            </a:r>
            <a:br>
              <a:rPr lang="es" sz="12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</a:br>
            <a:endParaRPr sz="1200" b="1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200"/>
              <a:buFont typeface="Sora"/>
              <a:buAutoNum type="arabicPeriod"/>
            </a:pPr>
            <a:r>
              <a:rPr lang="es" sz="12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Creación de Embeddings (Encoder Only)</a:t>
            </a:r>
            <a:br>
              <a:rPr lang="es" sz="12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</a:b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Los embeddings de los transformers </a:t>
            </a:r>
            <a:r>
              <a:rPr lang="es" sz="10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son contextuales</a:t>
            </a: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. Por ejemplo la palabra “banco”  tendrá distintos embeddings si se usa en “Voy al banco a sacar plata” que “Me senté en el banco de la plaza”</a:t>
            </a:r>
            <a:br>
              <a:rPr lang="es" sz="12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</a:br>
            <a:endParaRPr sz="1200" b="1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200"/>
              <a:buFont typeface="Sora"/>
              <a:buAutoNum type="arabicPeriod"/>
            </a:pPr>
            <a:r>
              <a:rPr lang="es" sz="12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Positional Encoding</a:t>
            </a:r>
            <a:br>
              <a:rPr lang="es" sz="12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</a:b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No tienen una estructura secuencial inherente, se requiere una manera de inyectar información sobre l</a:t>
            </a:r>
            <a:r>
              <a:rPr lang="es" sz="10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a posición de cada token</a:t>
            </a: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 en la secuencia.</a:t>
            </a:r>
            <a:br>
              <a:rPr lang="es" sz="12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</a:br>
            <a:endParaRPr sz="1200" b="1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200"/>
              <a:buFont typeface="Sora"/>
              <a:buAutoNum type="arabicPeriod"/>
            </a:pPr>
            <a:r>
              <a:rPr lang="es" sz="12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Mecanismo de atención</a:t>
            </a:r>
            <a:br>
              <a:rPr lang="es" sz="12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</a:b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La atención permite que el modelo considere todas las palabras de la secuencia al mismo tiempo y determine cuáles son más relevantes para la tarea actual. Hay 3 redes neuronales que componen el mecanismo:</a:t>
            </a:r>
            <a:endParaRPr sz="100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91440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000"/>
              <a:buFont typeface="Sora"/>
              <a:buAutoNum type="alphaLcPeriod"/>
            </a:pP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Query (Q):  Red que procesa el contexto de los token (vector de búsqueda)</a:t>
            </a:r>
            <a:endParaRPr sz="100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91440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000"/>
              <a:buFont typeface="Sora"/>
              <a:buAutoNum type="alphaLcPeriod"/>
            </a:pP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Key (K):  Red que procesa las propiedades de los token de la secuencia ( vector identificatorio)</a:t>
            </a:r>
            <a:endParaRPr sz="100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91440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000"/>
              <a:buFont typeface="Sora"/>
              <a:buAutoNum type="alphaLcPeriod"/>
            </a:pP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Value(V): Se encarga de calcular el output ponderando las palabras por medio de la Atención</a:t>
            </a:r>
            <a:endParaRPr sz="100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6314375" y="4064800"/>
            <a:ext cx="98100" cy="502200"/>
          </a:xfrm>
          <a:prstGeom prst="rightBrace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8"/>
          <p:cNvSpPr txBox="1"/>
          <p:nvPr/>
        </p:nvSpPr>
        <p:spPr>
          <a:xfrm>
            <a:off x="6625300" y="3969550"/>
            <a:ext cx="24180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Atención = Q ∙ K  </a:t>
            </a: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(Producto Punto)</a:t>
            </a:r>
            <a:b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</a:b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Permite analizar la compatibilidad entre los tokens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8" name="Google Shape;138;p18"/>
          <p:cNvSpPr txBox="1"/>
          <p:nvPr/>
        </p:nvSpPr>
        <p:spPr>
          <a:xfrm>
            <a:off x="5611450" y="426750"/>
            <a:ext cx="1463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 b="1" u="sng">
                <a:solidFill>
                  <a:schemeClr val="hlink"/>
                </a:solidFill>
                <a:latin typeface="Sora"/>
                <a:ea typeface="Sora"/>
                <a:cs typeface="Sora"/>
                <a:sym typeface="Sora"/>
                <a:hlinkClick r:id="rId4"/>
              </a:rPr>
              <a:t>Video Recomendado!</a:t>
            </a:r>
            <a:endParaRPr sz="1500"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139" name="Google Shape;139;p18"/>
          <p:cNvPicPr preferRelativeResize="0"/>
          <p:nvPr/>
        </p:nvPicPr>
        <p:blipFill>
          <a:blip r:embed="rId5">
            <a:alphaModFix amt="71000"/>
          </a:blip>
          <a:stretch>
            <a:fillRect/>
          </a:stretch>
        </p:blipFill>
        <p:spPr>
          <a:xfrm>
            <a:off x="5330426" y="426750"/>
            <a:ext cx="323100" cy="32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4500"/>
            <a:ext cx="914399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/>
        </p:nvSpPr>
        <p:spPr>
          <a:xfrm>
            <a:off x="972200" y="311250"/>
            <a:ext cx="6733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LLMs (+2020)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817025" y="354125"/>
            <a:ext cx="55200" cy="5541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9"/>
          <p:cNvSpPr txBox="1"/>
          <p:nvPr/>
        </p:nvSpPr>
        <p:spPr>
          <a:xfrm>
            <a:off x="972200" y="674175"/>
            <a:ext cx="50925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lt1"/>
                </a:solidFill>
                <a:highlight>
                  <a:srgbClr val="073763"/>
                </a:highlight>
                <a:latin typeface="Sora"/>
                <a:ea typeface="Sora"/>
                <a:cs typeface="Sora"/>
                <a:sym typeface="Sora"/>
              </a:rPr>
              <a:t>Openai, Anthropic, DeepSeek, LLama, Mistral, etc</a:t>
            </a:r>
            <a:endParaRPr sz="1100">
              <a:solidFill>
                <a:schemeClr val="lt1"/>
              </a:solidFill>
              <a:highlight>
                <a:srgbClr val="073763"/>
              </a:highlight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6597350" y="1615450"/>
            <a:ext cx="2345100" cy="16269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9"/>
          <p:cNvSpPr txBox="1"/>
          <p:nvPr/>
        </p:nvSpPr>
        <p:spPr>
          <a:xfrm>
            <a:off x="6725950" y="1908825"/>
            <a:ext cx="2216700" cy="12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69999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Sora"/>
              <a:buChar char="●"/>
            </a:pPr>
            <a:r>
              <a:rPr lang="es" sz="900">
                <a:solidFill>
                  <a:srgbClr val="666666"/>
                </a:solidFill>
                <a:latin typeface="Sora"/>
                <a:ea typeface="Sora"/>
                <a:cs typeface="Sora"/>
                <a:sym typeface="Sora"/>
              </a:rPr>
              <a:t>Razonamiento in-context</a:t>
            </a:r>
            <a:br>
              <a:rPr lang="es" sz="900">
                <a:solidFill>
                  <a:srgbClr val="666666"/>
                </a:solidFill>
                <a:latin typeface="Sora"/>
                <a:ea typeface="Sora"/>
                <a:cs typeface="Sora"/>
                <a:sym typeface="Sora"/>
              </a:rPr>
            </a:br>
            <a:endParaRPr sz="900">
              <a:solidFill>
                <a:srgbClr val="666666"/>
              </a:solidFill>
              <a:latin typeface="Sora"/>
              <a:ea typeface="Sora"/>
              <a:cs typeface="Sora"/>
              <a:sym typeface="Sora"/>
            </a:endParaRPr>
          </a:p>
          <a:p>
            <a:pPr marL="269999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Sora"/>
              <a:buChar char="●"/>
            </a:pPr>
            <a:r>
              <a:rPr lang="es" sz="900">
                <a:solidFill>
                  <a:srgbClr val="666666"/>
                </a:solidFill>
                <a:latin typeface="Sora"/>
                <a:ea typeface="Sora"/>
                <a:cs typeface="Sora"/>
                <a:sym typeface="Sora"/>
              </a:rPr>
              <a:t>Conocimientos multidominio</a:t>
            </a:r>
            <a:br>
              <a:rPr lang="es" sz="900">
                <a:solidFill>
                  <a:srgbClr val="666666"/>
                </a:solidFill>
                <a:latin typeface="Sora"/>
                <a:ea typeface="Sora"/>
                <a:cs typeface="Sora"/>
                <a:sym typeface="Sora"/>
              </a:rPr>
            </a:br>
            <a:endParaRPr sz="900">
              <a:solidFill>
                <a:srgbClr val="666666"/>
              </a:solidFill>
              <a:latin typeface="Sora"/>
              <a:ea typeface="Sora"/>
              <a:cs typeface="Sora"/>
              <a:sym typeface="Sora"/>
            </a:endParaRPr>
          </a:p>
          <a:p>
            <a:pPr marL="269999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Sora"/>
              <a:buChar char="●"/>
            </a:pPr>
            <a:r>
              <a:rPr lang="es" sz="900">
                <a:solidFill>
                  <a:srgbClr val="666666"/>
                </a:solidFill>
                <a:latin typeface="Sora"/>
                <a:ea typeface="Sora"/>
                <a:cs typeface="Sora"/>
                <a:sym typeface="Sora"/>
              </a:rPr>
              <a:t>Generación, transformación y compresión de información</a:t>
            </a:r>
            <a:br>
              <a:rPr lang="es" sz="900">
                <a:solidFill>
                  <a:srgbClr val="666666"/>
                </a:solidFill>
                <a:latin typeface="Sora"/>
                <a:ea typeface="Sora"/>
                <a:cs typeface="Sora"/>
                <a:sym typeface="Sora"/>
              </a:rPr>
            </a:br>
            <a:endParaRPr sz="900">
              <a:solidFill>
                <a:srgbClr val="666666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0" name="Google Shape;150;p19"/>
          <p:cNvSpPr txBox="1"/>
          <p:nvPr/>
        </p:nvSpPr>
        <p:spPr>
          <a:xfrm>
            <a:off x="7340025" y="1590750"/>
            <a:ext cx="12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>
                <a:solidFill>
                  <a:srgbClr val="666666"/>
                </a:solidFill>
                <a:latin typeface="Sora"/>
                <a:ea typeface="Sora"/>
                <a:cs typeface="Sora"/>
                <a:sym typeface="Sora"/>
              </a:rPr>
              <a:t>Ventajas</a:t>
            </a:r>
            <a:endParaRPr b="1">
              <a:solidFill>
                <a:srgbClr val="666666"/>
              </a:solidFill>
            </a:endParaRPr>
          </a:p>
        </p:txBody>
      </p:sp>
      <p:sp>
        <p:nvSpPr>
          <p:cNvPr id="151" name="Google Shape;151;p19"/>
          <p:cNvSpPr txBox="1"/>
          <p:nvPr/>
        </p:nvSpPr>
        <p:spPr>
          <a:xfrm>
            <a:off x="504850" y="940450"/>
            <a:ext cx="6092400" cy="42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200"/>
              <a:buFont typeface="Sora"/>
              <a:buAutoNum type="arabicPeriod"/>
            </a:pPr>
            <a:r>
              <a:rPr lang="es" sz="12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Proceso Generativo (Decoder Only)</a:t>
            </a:r>
            <a:br>
              <a:rPr lang="es" sz="12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</a:b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En vez de masking</a:t>
            </a:r>
            <a:r>
              <a:rPr lang="es" sz="12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usan "next token prediction" donde el modelo predice el siguiente token (atención unidireccional).</a:t>
            </a:r>
            <a:b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</a:br>
            <a:endParaRPr sz="1200" b="1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200"/>
              <a:buFont typeface="Sora"/>
              <a:buAutoNum type="arabicPeriod"/>
            </a:pPr>
            <a:r>
              <a:rPr lang="es" sz="12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RLHF (Reinforcement Learning from Human Feedback)</a:t>
            </a:r>
            <a:br>
              <a:rPr lang="es" sz="12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</a:b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Alinea los modelos de lenguaje con las preferencias y valores humanos. Se entrena un modelo de recompensa para predecir qué respuestas preferirían los usuarios. Ojo!!: Aumenta sesgo y baja la crítica al usuario</a:t>
            </a:r>
            <a:br>
              <a:rPr lang="es" sz="12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</a:br>
            <a:endParaRPr sz="1200" b="1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200"/>
              <a:buFont typeface="Sora"/>
              <a:buAutoNum type="arabicPeriod"/>
            </a:pPr>
            <a:r>
              <a:rPr lang="es" sz="12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Escalamiento de Parámetros</a:t>
            </a:r>
            <a:br>
              <a:rPr lang="es" sz="12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</a:br>
            <a:endParaRPr sz="1200" b="1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200"/>
              <a:buFont typeface="Sora"/>
              <a:buAutoNum type="arabicPeriod"/>
            </a:pPr>
            <a:r>
              <a:rPr lang="es" sz="12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MoE (Mixture of Experts)</a:t>
            </a:r>
            <a:br>
              <a:rPr lang="es" sz="12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</a:b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Un router decide a partir del mensaje que expertos (modelos transformers) activar. Luego se combinan los expertos para la salida final. </a:t>
            </a:r>
            <a:b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</a:br>
            <a:endParaRPr sz="100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000"/>
              <a:buFont typeface="Sora"/>
              <a:buAutoNum type="arabicPeriod"/>
            </a:pPr>
            <a:r>
              <a:rPr lang="es" sz="12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QLoRa (Quantized Low-Rank Adaptation) </a:t>
            </a:r>
            <a:br>
              <a:rPr lang="es" sz="12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</a:b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Combina cuantización durante entrenamiento con LoRA (fine tuning de LLM)</a:t>
            </a:r>
            <a:b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</a:br>
            <a:endParaRPr sz="100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000"/>
              <a:buFont typeface="Sora"/>
              <a:buAutoNum type="arabicPeriod"/>
            </a:pPr>
            <a:r>
              <a:rPr lang="es" sz="12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Modelo Evaluador</a:t>
            </a:r>
            <a:br>
              <a:rPr lang="es" sz="12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</a:b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El modelo genera múltiples soluciones a un problema. Luego evalúa sus propias soluciones con otro modelo para aprender las mejores soluciones </a:t>
            </a:r>
            <a:endParaRPr sz="1200" b="1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2" name="Google Shape;152;p19"/>
          <p:cNvSpPr txBox="1"/>
          <p:nvPr/>
        </p:nvSpPr>
        <p:spPr>
          <a:xfrm>
            <a:off x="5611450" y="426750"/>
            <a:ext cx="1463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 b="1" u="sng">
                <a:solidFill>
                  <a:schemeClr val="hlink"/>
                </a:solidFill>
                <a:latin typeface="Sora"/>
                <a:ea typeface="Sora"/>
                <a:cs typeface="Sora"/>
                <a:sym typeface="Sora"/>
                <a:hlinkClick r:id="rId4"/>
              </a:rPr>
              <a:t>Video Recomendado!</a:t>
            </a:r>
            <a:endParaRPr sz="1500"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153" name="Google Shape;153;p19"/>
          <p:cNvPicPr preferRelativeResize="0"/>
          <p:nvPr/>
        </p:nvPicPr>
        <p:blipFill>
          <a:blip r:embed="rId5">
            <a:alphaModFix amt="71000"/>
          </a:blip>
          <a:stretch>
            <a:fillRect/>
          </a:stretch>
        </p:blipFill>
        <p:spPr>
          <a:xfrm>
            <a:off x="5330426" y="426750"/>
            <a:ext cx="323100" cy="32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9"/>
          <p:cNvSpPr/>
          <p:nvPr/>
        </p:nvSpPr>
        <p:spPr>
          <a:xfrm>
            <a:off x="3124475" y="3242225"/>
            <a:ext cx="506100" cy="117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B5394"/>
          </a:solidFill>
          <a:ln w="9525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9"/>
          <p:cNvSpPr txBox="1"/>
          <p:nvPr/>
        </p:nvSpPr>
        <p:spPr>
          <a:xfrm>
            <a:off x="3689325" y="3131375"/>
            <a:ext cx="67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GPT-4</a:t>
            </a:r>
            <a:endParaRPr b="1"/>
          </a:p>
        </p:txBody>
      </p:sp>
      <p:sp>
        <p:nvSpPr>
          <p:cNvPr id="156" name="Google Shape;156;p19"/>
          <p:cNvSpPr/>
          <p:nvPr/>
        </p:nvSpPr>
        <p:spPr>
          <a:xfrm>
            <a:off x="3919800" y="1082050"/>
            <a:ext cx="506100" cy="117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B5394"/>
          </a:solidFill>
          <a:ln w="9525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9"/>
          <p:cNvSpPr txBox="1"/>
          <p:nvPr/>
        </p:nvSpPr>
        <p:spPr>
          <a:xfrm>
            <a:off x="4425900" y="971200"/>
            <a:ext cx="1773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Modelos GPT iniciales</a:t>
            </a:r>
            <a:endParaRPr b="1"/>
          </a:p>
        </p:txBody>
      </p:sp>
      <p:sp>
        <p:nvSpPr>
          <p:cNvPr id="158" name="Google Shape;158;p19"/>
          <p:cNvSpPr/>
          <p:nvPr/>
        </p:nvSpPr>
        <p:spPr>
          <a:xfrm>
            <a:off x="5354925" y="1883525"/>
            <a:ext cx="360600" cy="117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B5394"/>
          </a:solidFill>
          <a:ln w="9525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5715525" y="1759850"/>
            <a:ext cx="881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ChatGPT</a:t>
            </a:r>
            <a:endParaRPr b="1"/>
          </a:p>
        </p:txBody>
      </p:sp>
      <p:sp>
        <p:nvSpPr>
          <p:cNvPr id="160" name="Google Shape;160;p19"/>
          <p:cNvSpPr/>
          <p:nvPr/>
        </p:nvSpPr>
        <p:spPr>
          <a:xfrm>
            <a:off x="4360125" y="3982450"/>
            <a:ext cx="506100" cy="117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B5394"/>
          </a:solidFill>
          <a:ln w="9525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4909850" y="3871600"/>
            <a:ext cx="1687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Modelos Open Source</a:t>
            </a:r>
            <a:endParaRPr b="1"/>
          </a:p>
        </p:txBody>
      </p:sp>
      <p:sp>
        <p:nvSpPr>
          <p:cNvPr id="162" name="Google Shape;162;p19"/>
          <p:cNvSpPr/>
          <p:nvPr/>
        </p:nvSpPr>
        <p:spPr>
          <a:xfrm>
            <a:off x="2618375" y="4551250"/>
            <a:ext cx="506100" cy="117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B5394"/>
          </a:solidFill>
          <a:ln w="9525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3180975" y="4440400"/>
            <a:ext cx="1687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Modelos Razonadores</a:t>
            </a:r>
            <a:endParaRPr b="1"/>
          </a:p>
        </p:txBody>
      </p:sp>
      <p:sp>
        <p:nvSpPr>
          <p:cNvPr id="164" name="Google Shape;164;p19"/>
          <p:cNvSpPr/>
          <p:nvPr/>
        </p:nvSpPr>
        <p:spPr>
          <a:xfrm>
            <a:off x="6597350" y="3291850"/>
            <a:ext cx="2345100" cy="18273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7111425" y="3267150"/>
            <a:ext cx="1559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>
                <a:solidFill>
                  <a:srgbClr val="666666"/>
                </a:solidFill>
                <a:latin typeface="Sora"/>
                <a:ea typeface="Sora"/>
                <a:cs typeface="Sora"/>
                <a:sym typeface="Sora"/>
              </a:rPr>
              <a:t>Usos Comunes</a:t>
            </a:r>
            <a:endParaRPr b="1">
              <a:solidFill>
                <a:srgbClr val="666666"/>
              </a:solidFill>
            </a:endParaRPr>
          </a:p>
        </p:txBody>
      </p:sp>
      <p:sp>
        <p:nvSpPr>
          <p:cNvPr id="166" name="Google Shape;166;p19"/>
          <p:cNvSpPr txBox="1"/>
          <p:nvPr/>
        </p:nvSpPr>
        <p:spPr>
          <a:xfrm>
            <a:off x="6717175" y="3589300"/>
            <a:ext cx="2216700" cy="17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69999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Sora"/>
              <a:buChar char="●"/>
            </a:pPr>
            <a:r>
              <a:rPr lang="es" sz="900">
                <a:solidFill>
                  <a:srgbClr val="666666"/>
                </a:solidFill>
                <a:latin typeface="Sora"/>
                <a:ea typeface="Sora"/>
                <a:cs typeface="Sora"/>
                <a:sym typeface="Sora"/>
              </a:rPr>
              <a:t>Chatbots (difícil)</a:t>
            </a:r>
            <a:br>
              <a:rPr lang="es" sz="900">
                <a:solidFill>
                  <a:srgbClr val="666666"/>
                </a:solidFill>
                <a:latin typeface="Sora"/>
                <a:ea typeface="Sora"/>
                <a:cs typeface="Sora"/>
                <a:sym typeface="Sora"/>
              </a:rPr>
            </a:br>
            <a:endParaRPr sz="900">
              <a:solidFill>
                <a:srgbClr val="666666"/>
              </a:solidFill>
              <a:latin typeface="Sora"/>
              <a:ea typeface="Sora"/>
              <a:cs typeface="Sora"/>
              <a:sym typeface="Sora"/>
            </a:endParaRPr>
          </a:p>
          <a:p>
            <a:pPr marL="269999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Sora"/>
              <a:buChar char="●"/>
            </a:pPr>
            <a:r>
              <a:rPr lang="es" sz="900">
                <a:solidFill>
                  <a:srgbClr val="666666"/>
                </a:solidFill>
                <a:latin typeface="Sora"/>
                <a:ea typeface="Sora"/>
                <a:cs typeface="Sora"/>
                <a:sym typeface="Sora"/>
              </a:rPr>
              <a:t>Automatización procesos internos (dificultad media):</a:t>
            </a:r>
            <a:endParaRPr sz="900">
              <a:solidFill>
                <a:srgbClr val="666666"/>
              </a:solidFill>
              <a:latin typeface="Sora"/>
              <a:ea typeface="Sora"/>
              <a:cs typeface="Sora"/>
              <a:sym typeface="Sora"/>
            </a:endParaRPr>
          </a:p>
          <a:p>
            <a:pPr marL="914400" lvl="1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Sora"/>
              <a:buChar char="○"/>
            </a:pPr>
            <a:r>
              <a:rPr lang="es" sz="900">
                <a:solidFill>
                  <a:srgbClr val="666666"/>
                </a:solidFill>
                <a:latin typeface="Sora"/>
                <a:ea typeface="Sora"/>
                <a:cs typeface="Sora"/>
                <a:sym typeface="Sora"/>
              </a:rPr>
              <a:t>Validaciones</a:t>
            </a:r>
            <a:endParaRPr sz="900">
              <a:solidFill>
                <a:srgbClr val="666666"/>
              </a:solidFill>
              <a:latin typeface="Sora"/>
              <a:ea typeface="Sora"/>
              <a:cs typeface="Sora"/>
              <a:sym typeface="Sora"/>
            </a:endParaRPr>
          </a:p>
          <a:p>
            <a:pPr marL="914400" lvl="1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Sora"/>
              <a:buChar char="○"/>
            </a:pPr>
            <a:r>
              <a:rPr lang="es" sz="900">
                <a:solidFill>
                  <a:srgbClr val="666666"/>
                </a:solidFill>
                <a:latin typeface="Sora"/>
                <a:ea typeface="Sora"/>
                <a:cs typeface="Sora"/>
                <a:sym typeface="Sora"/>
              </a:rPr>
              <a:t>Reportes</a:t>
            </a:r>
            <a:endParaRPr sz="900">
              <a:solidFill>
                <a:srgbClr val="666666"/>
              </a:solidFill>
              <a:latin typeface="Sora"/>
              <a:ea typeface="Sora"/>
              <a:cs typeface="Sora"/>
              <a:sym typeface="Sora"/>
            </a:endParaRPr>
          </a:p>
          <a:p>
            <a:pPr marL="914400" lvl="1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Sora"/>
              <a:buChar char="○"/>
            </a:pPr>
            <a:r>
              <a:rPr lang="es" sz="900">
                <a:solidFill>
                  <a:srgbClr val="666666"/>
                </a:solidFill>
                <a:latin typeface="Sora"/>
                <a:ea typeface="Sora"/>
                <a:cs typeface="Sora"/>
                <a:sym typeface="Sora"/>
              </a:rPr>
              <a:t>Documentación</a:t>
            </a:r>
            <a:br>
              <a:rPr lang="es" sz="900">
                <a:solidFill>
                  <a:srgbClr val="666666"/>
                </a:solidFill>
                <a:latin typeface="Sora"/>
                <a:ea typeface="Sora"/>
                <a:cs typeface="Sora"/>
                <a:sym typeface="Sora"/>
              </a:rPr>
            </a:br>
            <a:endParaRPr sz="900">
              <a:solidFill>
                <a:srgbClr val="666666"/>
              </a:solidFill>
              <a:latin typeface="Sora"/>
              <a:ea typeface="Sora"/>
              <a:cs typeface="Sora"/>
              <a:sym typeface="Sora"/>
            </a:endParaRPr>
          </a:p>
          <a:p>
            <a:pPr marL="269999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Sora"/>
              <a:buChar char="●"/>
            </a:pPr>
            <a:r>
              <a:rPr lang="es" sz="900">
                <a:solidFill>
                  <a:srgbClr val="666666"/>
                </a:solidFill>
                <a:latin typeface="Sora"/>
                <a:ea typeface="Sora"/>
                <a:cs typeface="Sora"/>
                <a:sym typeface="Sora"/>
              </a:rPr>
              <a:t>Agentes (difícil)</a:t>
            </a:r>
            <a:br>
              <a:rPr lang="es" sz="900">
                <a:solidFill>
                  <a:srgbClr val="666666"/>
                </a:solidFill>
                <a:latin typeface="Sora"/>
                <a:ea typeface="Sora"/>
                <a:cs typeface="Sora"/>
                <a:sym typeface="Sora"/>
              </a:rPr>
            </a:br>
            <a:endParaRPr sz="900">
              <a:solidFill>
                <a:srgbClr val="666666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4500"/>
            <a:ext cx="914399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/>
        </p:nvSpPr>
        <p:spPr>
          <a:xfrm>
            <a:off x="972200" y="311250"/>
            <a:ext cx="6733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Progreso de los LLM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817025" y="354125"/>
            <a:ext cx="55200" cy="5541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972200" y="674175"/>
            <a:ext cx="50925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lt1"/>
                </a:solidFill>
                <a:highlight>
                  <a:srgbClr val="073763"/>
                </a:highlight>
                <a:latin typeface="Sora"/>
                <a:ea typeface="Sora"/>
                <a:cs typeface="Sora"/>
                <a:sym typeface="Sora"/>
              </a:rPr>
              <a:t>Openai, Anthropic, DeepSeek, LLama, Mistral, etc</a:t>
            </a:r>
            <a:endParaRPr sz="1100">
              <a:solidFill>
                <a:schemeClr val="lt1"/>
              </a:solidFill>
              <a:highlight>
                <a:srgbClr val="073763"/>
              </a:highlight>
            </a:endParaRPr>
          </a:p>
        </p:txBody>
      </p:sp>
      <p:pic>
        <p:nvPicPr>
          <p:cNvPr id="175" name="Google Shape;17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951" y="1380325"/>
            <a:ext cx="7740404" cy="368107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 txBox="1"/>
          <p:nvPr/>
        </p:nvSpPr>
        <p:spPr>
          <a:xfrm>
            <a:off x="6242300" y="426750"/>
            <a:ext cx="14634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 b="1" u="sng">
                <a:solidFill>
                  <a:schemeClr val="hlink"/>
                </a:solidFill>
                <a:latin typeface="Sora"/>
                <a:ea typeface="Sora"/>
                <a:cs typeface="Sora"/>
                <a:sym typeface="Sora"/>
                <a:hlinkClick r:id="rId5"/>
              </a:rPr>
              <a:t>Benchmarks y Progreso IA</a:t>
            </a:r>
            <a:endParaRPr sz="1500"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177" name="Google Shape;177;p20" title="enlac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61325" y="477450"/>
            <a:ext cx="380975" cy="3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951</Words>
  <Application>Microsoft Office PowerPoint</Application>
  <PresentationFormat>Presentación en pantalla (16:9)</PresentationFormat>
  <Paragraphs>100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Sora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Sharon Pesca Alba</cp:lastModifiedBy>
  <cp:revision>1</cp:revision>
  <dcterms:modified xsi:type="dcterms:W3CDTF">2026-05-03T23:00:34Z</dcterms:modified>
</cp:coreProperties>
</file>